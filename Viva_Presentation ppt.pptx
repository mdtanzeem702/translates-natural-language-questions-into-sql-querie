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3" r:id="rId2"/>
    <p:sldId id="328" r:id="rId3"/>
    <p:sldId id="294" r:id="rId4"/>
    <p:sldId id="302" r:id="rId5"/>
    <p:sldId id="311" r:id="rId6"/>
    <p:sldId id="303" r:id="rId7"/>
    <p:sldId id="314" r:id="rId8"/>
    <p:sldId id="304" r:id="rId9"/>
    <p:sldId id="305" r:id="rId10"/>
    <p:sldId id="324" r:id="rId11"/>
    <p:sldId id="325" r:id="rId12"/>
    <p:sldId id="326" r:id="rId13"/>
    <p:sldId id="327" r:id="rId14"/>
    <p:sldId id="322" r:id="rId15"/>
    <p:sldId id="306" r:id="rId16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146E-025B-7B6A-DD6E-14DD042D1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9D579-2CE0-D7F5-DD9A-4566A61A2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848B-773D-8D54-2B68-9FB62535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E86B-B30F-E8B6-CBBF-0AA3C9DA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DB1B-393D-60ED-A15E-16945887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97530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1D8-26C6-8B2E-115A-51E08C1E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F334F-FE54-151D-8597-0467C40DF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9ECA-08F1-8A31-74A1-FB1E430C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B5726-E711-1E74-F908-5D162A37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39161-18A9-7D99-4AA5-1128CB3F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89833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DE43-7D37-7653-C06C-B9D03E1FA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5DC3B-1351-DF08-A8AD-9E6AB5E0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8DA74-EA74-55DA-B4D2-59DC9797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B7FD0-7FE3-F9A2-A9E4-10E0430C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691C0-755D-C26B-C3AF-FFAC2279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381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DF1B-ADB6-92B0-EF70-062EB5EB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4E5E-1580-1937-361A-221D550C2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DB68E-FA91-8367-6D31-EA7CFA28F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A4637-E2F9-461A-FA9B-AD9CB357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09860-27E2-9809-EF8C-4AE193AE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BDDD3-1D7C-C58F-499B-E0E581C0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30167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ED02-82BE-2C58-0458-741FBBF9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57A7A-4BA1-4042-BACC-77085BEB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EF58-8BD3-D6FF-17F3-AAE53A868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97340-9005-57A1-807C-2D0A22B14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13E69-E6D7-7A4A-0C61-B9EFD313D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AF452-14D5-268B-6BAF-45CEB52D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E0D52-BE96-604D-4457-BDF3DE0C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283A5-9EE4-2BC1-9878-A58B113B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5560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8EA0-EB41-5852-F2CB-450D5594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A2628-E1A6-3B41-7002-4D841C63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96072-6399-AE6D-1858-B423A921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C3BC3-F868-3845-0742-5D30E95E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21177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1AE74-01F2-AD67-9421-1758589C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A62D4-1958-456C-B424-1862633C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D2DC6-7315-40F6-B6A4-3DD1F7B8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35636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C262-380F-F317-8211-3776EE5E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B357-CB8F-56E3-BE11-57E90591B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4655B-759E-6A23-C49F-688B5DC57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99B3-539B-0C94-15D4-7FF95746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0CA7F-040E-0074-A6EB-B9543591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E667-F726-F73A-3636-855220B2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07931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6A11-30A9-D30E-F2FD-9BF3C76D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376C-4EB1-EA6D-4C47-AC7BE924E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36556-32AB-9242-F43E-A2A75465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2AD94-779F-7437-9FF3-6AC2A60C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315A0-33FE-F521-45E0-1937BB49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9C8E9-7274-3A8C-2BC7-1A1FAB60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5398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4919-C418-464A-6DC8-91712F97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FF419-0B82-778B-CCD7-8BBA6AD89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94307-56CD-1AE6-64BF-35F93E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D42F2-DF6C-515E-7D7F-989BDACF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18A75-0176-3FB5-5E74-0A899A5B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2383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C3C9E-4554-8455-B064-B3E496A46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BDA4C-25B9-0BC2-5D31-EA5475AF0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86CCD-F50C-EE5B-3FCD-70381E2C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2745-674B-1055-2586-CC10BB67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2EB46-0231-BE56-E9E0-4408EA7A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20546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5AB594-3664-8E9E-06CB-D3D33937B75C}"/>
              </a:ext>
            </a:extLst>
          </p:cNvPr>
          <p:cNvCxnSpPr/>
          <p:nvPr userDrawn="1"/>
        </p:nvCxnSpPr>
        <p:spPr>
          <a:xfrm>
            <a:off x="336000" y="547474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7E3AE6-1AA2-47C1-4627-E4CAD3494BF7}"/>
              </a:ext>
            </a:extLst>
          </p:cNvPr>
          <p:cNvCxnSpPr/>
          <p:nvPr userDrawn="1"/>
        </p:nvCxnSpPr>
        <p:spPr>
          <a:xfrm>
            <a:off x="336000" y="6315483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140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solidFill>
          <a:srgbClr val="F8F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34769"/>
            <a:ext cx="11520000" cy="539672"/>
          </a:xfrm>
          <a:prstGeom prst="rect">
            <a:avLst/>
          </a:prstGeom>
        </p:spPr>
        <p:txBody>
          <a:bodyPr tIns="0" bIns="0"/>
          <a:lstStyle>
            <a:lvl1pPr algn="ctr">
              <a:lnSpc>
                <a:spcPct val="100000"/>
              </a:lnSpc>
              <a:defRPr sz="36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42000" y="673830"/>
            <a:ext cx="11520000" cy="0"/>
          </a:xfrm>
          <a:prstGeom prst="line">
            <a:avLst/>
          </a:prstGeom>
          <a:ln w="19050" cap="rnd">
            <a:solidFill>
              <a:srgbClr val="063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8000" y="767566"/>
            <a:ext cx="11665475" cy="5494085"/>
          </a:xfrm>
          <a:prstGeom prst="rect">
            <a:avLst/>
          </a:prstGeom>
        </p:spPr>
        <p:txBody>
          <a:bodyPr tIns="0" bIns="0"/>
          <a:lstStyle>
            <a:lvl1pPr marL="228600" indent="-228600">
              <a:buClr>
                <a:srgbClr val="B40000"/>
              </a:buClr>
              <a:buSzPct val="75000"/>
              <a:buFontTx/>
              <a:buChar char="►"/>
              <a:defRPr sz="3200">
                <a:solidFill>
                  <a:schemeClr val="tx1"/>
                </a:solidFill>
                <a:latin typeface="+mn-lt"/>
              </a:defRPr>
            </a:lvl1pPr>
            <a:lvl2pPr marL="685800" indent="-228600">
              <a:buClr>
                <a:srgbClr val="B40000"/>
              </a:buClr>
              <a:buSzPct val="75000"/>
              <a:buFontTx/>
              <a:buChar char="►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>
              <a:buClr>
                <a:srgbClr val="B40000"/>
              </a:buClr>
              <a:buSzPct val="75000"/>
              <a:buFontTx/>
              <a:buChar char="►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C148890-B4AF-876D-F64B-062232F6784C}"/>
              </a:ext>
            </a:extLst>
          </p:cNvPr>
          <p:cNvSpPr txBox="1">
            <a:spLocks/>
          </p:cNvSpPr>
          <p:nvPr userDrawn="1"/>
        </p:nvSpPr>
        <p:spPr>
          <a:xfrm>
            <a:off x="-60665" y="6508278"/>
            <a:ext cx="711200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Optim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8DC1522-342F-47E4-9CF7-D7732B4FB87D}" type="slidenum">
              <a:rPr lang="en-GB" sz="1200" b="0" smtClean="0">
                <a:solidFill>
                  <a:srgbClr val="F8F6CA"/>
                </a:solidFill>
                <a:latin typeface="+mn-lt"/>
              </a:rPr>
              <a:pPr algn="ctr"/>
              <a:t>‹#›</a:t>
            </a:fld>
            <a:endParaRPr lang="en-GB" sz="1400" b="0">
              <a:solidFill>
                <a:srgbClr val="F8F6C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315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956A3-0AA8-F8F8-359E-2571674A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15038-AE16-1B22-EE5F-4712C228C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6DD1B-8889-988E-B190-9D2B5040B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1EBA5-5D6B-1245-9328-7D2D181FC864}" type="datetimeFigureOut">
              <a:rPr lang="en-MA" smtClean="0"/>
              <a:t>09/01/2025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8C46-785A-02C3-0D98-6A3BF2C13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DE843-7CF0-9F56-D589-15438D02B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57558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B5EE0A-878A-594B-5E78-A954372A4F11}"/>
              </a:ext>
            </a:extLst>
          </p:cNvPr>
          <p:cNvSpPr txBox="1">
            <a:spLocks/>
          </p:cNvSpPr>
          <p:nvPr/>
        </p:nvSpPr>
        <p:spPr>
          <a:xfrm>
            <a:off x="1076546" y="2594604"/>
            <a:ext cx="10058400" cy="612312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accent5"/>
                </a:solidFill>
                <a:latin typeface="Aptos Narrow" panose="020B0004020202020204" pitchFamily="34" charset="0"/>
              </a:rPr>
              <a:t>Text-to-SQL System for Project Management Applications</a:t>
            </a:r>
            <a:endParaRPr lang="en-GB" sz="3200" b="1" dirty="0">
              <a:solidFill>
                <a:schemeClr val="accent5"/>
              </a:solidFill>
              <a:latin typeface="Aptos Narrow" panose="020B00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2D4E25-4A15-F302-45AF-52408EC6981E}"/>
              </a:ext>
            </a:extLst>
          </p:cNvPr>
          <p:cNvSpPr txBox="1">
            <a:spLocks/>
          </p:cNvSpPr>
          <p:nvPr/>
        </p:nvSpPr>
        <p:spPr>
          <a:xfrm>
            <a:off x="206755" y="4967897"/>
            <a:ext cx="5466458" cy="1073497"/>
          </a:xfrm>
          <a:prstGeom prst="rect">
            <a:avLst/>
          </a:prstGeom>
          <a:noFill/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2400" dirty="0">
                <a:solidFill>
                  <a:srgbClr val="F8F6CA"/>
                </a:solidFill>
                <a:latin typeface="+mn-lt"/>
              </a:rPr>
              <a:t>Student Name:  Md Tanzeem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solidFill>
                  <a:srgbClr val="F8F6CA"/>
                </a:solidFill>
                <a:latin typeface="+mn-lt"/>
              </a:rPr>
              <a:t>Date: 02 Sept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3F4AD-9839-C0C0-D927-EEEF3AD674CB}"/>
              </a:ext>
            </a:extLst>
          </p:cNvPr>
          <p:cNvSpPr txBox="1">
            <a:spLocks/>
          </p:cNvSpPr>
          <p:nvPr/>
        </p:nvSpPr>
        <p:spPr>
          <a:xfrm>
            <a:off x="1076546" y="757928"/>
            <a:ext cx="10058400" cy="1710564"/>
          </a:xfrm>
          <a:prstGeom prst="rect">
            <a:avLst/>
          </a:prstGeom>
          <a:noFill/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4800" b="1" dirty="0">
                <a:solidFill>
                  <a:srgbClr val="00C487"/>
                </a:solidFill>
              </a:rPr>
              <a:t>MSc Project </a:t>
            </a:r>
          </a:p>
          <a:p>
            <a:pPr algn="ctr">
              <a:lnSpc>
                <a:spcPct val="100000"/>
              </a:lnSpc>
            </a:pPr>
            <a:r>
              <a:rPr lang="en-GB" sz="2200" dirty="0">
                <a:solidFill>
                  <a:srgbClr val="00C487"/>
                </a:solidFill>
                <a:latin typeface="+mn-lt"/>
              </a:rPr>
              <a:t>(A00033581) </a:t>
            </a:r>
            <a:endParaRPr lang="en-GB" b="1" dirty="0">
              <a:solidFill>
                <a:srgbClr val="FFFFFF"/>
              </a:solidFill>
              <a:latin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Viva Presentation 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60847A-EE14-C513-3261-90AEF6F8B76E}"/>
              </a:ext>
            </a:extLst>
          </p:cNvPr>
          <p:cNvSpPr txBox="1">
            <a:spLocks/>
          </p:cNvSpPr>
          <p:nvPr/>
        </p:nvSpPr>
        <p:spPr>
          <a:xfrm>
            <a:off x="7511844" y="4967897"/>
            <a:ext cx="4479215" cy="1073497"/>
          </a:xfrm>
          <a:prstGeom prst="rect">
            <a:avLst/>
          </a:prstGeom>
          <a:noFill/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2400" dirty="0">
                <a:solidFill>
                  <a:schemeClr val="bg1"/>
                </a:solidFill>
                <a:latin typeface="+mn-lt"/>
              </a:rPr>
              <a:t>Supervisor</a:t>
            </a:r>
            <a:r>
              <a:rPr lang="en-GB" sz="2400" dirty="0">
                <a:solidFill>
                  <a:schemeClr val="bg1"/>
                </a:solidFill>
                <a:ea typeface="+mj-lt"/>
                <a:cs typeface="+mj-lt"/>
              </a:rPr>
              <a:t>: </a:t>
            </a:r>
            <a:r>
              <a:rPr lang="en-IN" sz="2400" dirty="0">
                <a:solidFill>
                  <a:schemeClr val="bg1"/>
                </a:solidFill>
              </a:rPr>
              <a:t>Kuo-Ming Chao</a:t>
            </a:r>
            <a:endParaRPr lang="en-GB" sz="2400" dirty="0">
              <a:solidFill>
                <a:schemeClr val="bg1"/>
              </a:solidFill>
              <a:ea typeface="+mj-lt"/>
              <a:cs typeface="+mj-lt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bg1"/>
                </a:solidFill>
              </a:rPr>
              <a:t>Industry Partner</a:t>
            </a:r>
            <a:r>
              <a:rPr lang="en-IN" sz="2400" dirty="0">
                <a:solidFill>
                  <a:schemeClr val="bg1"/>
                </a:solidFill>
              </a:rPr>
              <a:t>:</a:t>
            </a:r>
            <a:r>
              <a:rPr lang="en-GB" sz="2400" dirty="0">
                <a:solidFill>
                  <a:schemeClr val="bg1"/>
                </a:solidFill>
                <a:latin typeface="+mn-lt"/>
              </a:rPr>
              <a:t>: </a:t>
            </a:r>
            <a:r>
              <a:rPr lang="en-IN" sz="2400" dirty="0">
                <a:solidFill>
                  <a:schemeClr val="bg1"/>
                </a:solidFill>
              </a:rPr>
              <a:t>EZPS</a:t>
            </a:r>
            <a:r>
              <a:rPr lang="en-GB" sz="2400" dirty="0">
                <a:solidFill>
                  <a:schemeClr val="bg1"/>
                </a:solidFill>
                <a:latin typeface="+mn-lt"/>
              </a:rPr>
              <a:t> </a:t>
            </a:r>
            <a:endParaRPr lang="en-GB" sz="2400" dirty="0">
              <a:solidFill>
                <a:schemeClr val="bg1"/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628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8EDC6-2AC0-3A1D-3FD9-2A9822B4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5D27E-33C4-A8A5-2476-14BF1C22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Outline</a:t>
            </a:r>
            <a:endParaRPr lang="en-GB" dirty="0"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B4C34-6B62-E77F-D3F0-0011C0171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665475" cy="5938034"/>
          </a:xfrm>
        </p:spPr>
        <p:txBody>
          <a:bodyPr vert="horz" lIns="91440" tIns="0" rIns="91440" bIns="0" rtlCol="0" anchor="t">
            <a:normAutofit fontScale="92500" lnSpcReduction="20000"/>
          </a:bodyPr>
          <a:lstStyle/>
          <a:p>
            <a:r>
              <a:rPr lang="en-IN" dirty="0"/>
              <a:t>Context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Objectives</a:t>
            </a:r>
          </a:p>
          <a:p>
            <a:r>
              <a:rPr lang="en-IN" dirty="0"/>
              <a:t>Methodology</a:t>
            </a:r>
          </a:p>
          <a:p>
            <a:r>
              <a:rPr lang="en-IN" dirty="0"/>
              <a:t>System Architecture</a:t>
            </a:r>
          </a:p>
          <a:p>
            <a:r>
              <a:rPr lang="en-GB" dirty="0"/>
              <a:t>P</a:t>
            </a:r>
            <a:r>
              <a:rPr lang="en-MA" dirty="0"/>
              <a:t>roject </a:t>
            </a:r>
            <a:r>
              <a:rPr lang="en-GB" dirty="0"/>
              <a:t>M</a:t>
            </a:r>
            <a:r>
              <a:rPr lang="en-MA" dirty="0"/>
              <a:t>anagement</a:t>
            </a:r>
            <a:endParaRPr lang="en-US" dirty="0"/>
          </a:p>
          <a:p>
            <a:r>
              <a:rPr lang="en-GB" dirty="0"/>
              <a:t>L</a:t>
            </a:r>
            <a:r>
              <a:rPr lang="en-MA" dirty="0"/>
              <a:t>iterature </a:t>
            </a:r>
            <a:r>
              <a:rPr lang="en-GB" dirty="0"/>
              <a:t>R</a:t>
            </a:r>
            <a:r>
              <a:rPr lang="en-MA" dirty="0"/>
              <a:t>eview</a:t>
            </a:r>
            <a:endParaRPr lang="en-US" dirty="0"/>
          </a:p>
          <a:p>
            <a:r>
              <a:rPr lang="en-IN" dirty="0"/>
              <a:t>Implementation Highlights</a:t>
            </a:r>
          </a:p>
          <a:p>
            <a:r>
              <a:rPr lang="en-IN" dirty="0"/>
              <a:t>Results &amp; Performance</a:t>
            </a:r>
          </a:p>
          <a:p>
            <a:r>
              <a:rPr lang="en-IN" dirty="0"/>
              <a:t>User Experience Testing</a:t>
            </a:r>
          </a:p>
          <a:p>
            <a:r>
              <a:rPr lang="en-IN" dirty="0"/>
              <a:t>Comparison with Related Systems</a:t>
            </a:r>
          </a:p>
          <a:p>
            <a:r>
              <a:rPr lang="en-IN" dirty="0"/>
              <a:t>Future Work &amp; Extensions</a:t>
            </a:r>
          </a:p>
          <a:p>
            <a:r>
              <a:rPr lang="en-MA" dirty="0"/>
              <a:t>Conclusion</a:t>
            </a:r>
            <a:endParaRPr lang="en-IN" dirty="0"/>
          </a:p>
          <a:p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325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Context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C37E4-1F85-E1DF-6618-448C08528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665475" cy="5938034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IN" sz="2800" b="1" dirty="0"/>
              <a:t>Field:</a:t>
            </a:r>
            <a:r>
              <a:rPr lang="en-IN" sz="2800" dirty="0"/>
              <a:t> Natural Language Processing + Database Systems</a:t>
            </a:r>
          </a:p>
          <a:p>
            <a:r>
              <a:rPr lang="en-IN" sz="2800" b="1" dirty="0"/>
              <a:t>Subfield:</a:t>
            </a:r>
            <a:r>
              <a:rPr lang="en-IN" sz="2800" dirty="0"/>
              <a:t> Text-to-SQL Translation for Domain-Specific Applications</a:t>
            </a:r>
          </a:p>
          <a:p>
            <a:r>
              <a:rPr lang="en-IN" sz="2800" b="1" dirty="0"/>
              <a:t>Industry Need:</a:t>
            </a:r>
            <a:r>
              <a:rPr lang="en-IN" sz="2800" dirty="0"/>
              <a:t> 73% of project managers report data accessibility barriers</a:t>
            </a:r>
          </a:p>
          <a:p>
            <a:r>
              <a:rPr lang="en-IN" sz="2800" b="1" dirty="0"/>
              <a:t>Technology Trend:</a:t>
            </a:r>
            <a:r>
              <a:rPr lang="en-IN" sz="2800" dirty="0"/>
              <a:t> Large Language Models enabling practical NLP solutions</a:t>
            </a:r>
          </a:p>
          <a:p>
            <a:r>
              <a:rPr lang="en-IN" sz="2800" b="1" dirty="0"/>
              <a:t>Domain Focus:</a:t>
            </a:r>
            <a:r>
              <a:rPr lang="en-IN" sz="2800" dirty="0"/>
              <a:t> Project management databases with specialized terminology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Gap Identified:</a:t>
            </a:r>
            <a:r>
              <a:rPr lang="en-IN" sz="2800" dirty="0"/>
              <a:t> While general Text-to-SQL systems exist, domain-specific solutions for project management remain limited, creating opportunities for specialized optimization</a:t>
            </a:r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20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6E8E-A0A7-36BB-F744-A2727B31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Problem Statement -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1AC4-D5A7-520C-D43D-40151EE7E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876013" cy="5859376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IN" sz="2800" b="1" dirty="0"/>
              <a:t>What:</a:t>
            </a:r>
            <a:r>
              <a:rPr lang="en-IN" sz="2800" dirty="0"/>
              <a:t> Lack of direct database access for non-technical project stakeholders</a:t>
            </a:r>
          </a:p>
          <a:p>
            <a:r>
              <a:rPr lang="en-IN" sz="2800" b="1" dirty="0"/>
              <a:t>Who:</a:t>
            </a:r>
            <a:r>
              <a:rPr lang="en-IN" sz="2800" dirty="0"/>
              <a:t> Project managers, business analysts, stakeholders without SQL expertise</a:t>
            </a:r>
          </a:p>
          <a:p>
            <a:r>
              <a:rPr lang="en-IN" sz="2800" b="1" dirty="0"/>
              <a:t>Where/When:</a:t>
            </a:r>
            <a:r>
              <a:rPr lang="en-IN" sz="2800" dirty="0"/>
              <a:t> Daily project management workflows requiring data insights</a:t>
            </a:r>
          </a:p>
          <a:p>
            <a:r>
              <a:rPr lang="en-IN" sz="2800" b="1" dirty="0"/>
              <a:t>Impact:</a:t>
            </a:r>
            <a:r>
              <a:rPr lang="en-IN" sz="2800" dirty="0"/>
              <a:t> Time-consuming dependency on technical staff</a:t>
            </a:r>
          </a:p>
          <a:p>
            <a:pPr marL="0" indent="0">
              <a:buNone/>
            </a:pPr>
            <a:br>
              <a:rPr lang="en-IN" sz="2800" dirty="0"/>
            </a:br>
            <a:r>
              <a:rPr lang="en-IN" sz="2800" b="1" dirty="0"/>
              <a:t>Core Issues:</a:t>
            </a:r>
            <a:r>
              <a:rPr lang="en-IN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Communication bottlenecks delaying decisions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Limited data exploration capabilities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Reduced operational efficiency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Dependency on technical intermediaries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734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dirty="0">
                <a:latin typeface="Arial"/>
                <a:cs typeface="Arial"/>
              </a:rPr>
              <a:t>Objective - WHAT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9A7BC-4FAF-68F0-47CA-4CAD17B43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777690" cy="5928202"/>
          </a:xfrm>
        </p:spPr>
        <p:txBody>
          <a:bodyPr vert="horz" lIns="91440" tIns="0" rIns="91440" bIns="0" rtlCol="0" anchor="t">
            <a:normAutofit/>
          </a:bodyPr>
          <a:lstStyle/>
          <a:p>
            <a:pPr marL="0" indent="0">
              <a:buNone/>
            </a:pPr>
            <a:r>
              <a:rPr lang="en-IN" b="1" dirty="0"/>
              <a:t>SMART Objective:</a:t>
            </a:r>
            <a:r>
              <a:rPr lang="en-IN" dirty="0"/>
              <a:t> To develop and evaluate a Text-to-SQL system enabling natural language queries for project management databases with ≥85% accuracy, completed within 15 weeks.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Specific:</a:t>
            </a:r>
            <a:r>
              <a:rPr lang="en-IN" dirty="0"/>
              <a:t> Natural language to SQL translation for project management</a:t>
            </a:r>
          </a:p>
          <a:p>
            <a:r>
              <a:rPr lang="en-IN" b="1" dirty="0"/>
              <a:t>Measurable:</a:t>
            </a:r>
            <a:r>
              <a:rPr lang="en-IN" dirty="0"/>
              <a:t> Target 85% query accuracy, 4.0/5.0 user satisfaction</a:t>
            </a:r>
          </a:p>
          <a:p>
            <a:r>
              <a:rPr lang="en-IN" b="1" dirty="0"/>
              <a:t>Achievable:</a:t>
            </a:r>
            <a:r>
              <a:rPr lang="en-IN" dirty="0"/>
              <a:t> Using proven technologies (Google Gemini, </a:t>
            </a:r>
            <a:r>
              <a:rPr lang="en-IN" dirty="0" err="1"/>
              <a:t>LangChain</a:t>
            </a:r>
            <a:r>
              <a:rPr lang="en-IN" dirty="0"/>
              <a:t>)</a:t>
            </a:r>
          </a:p>
          <a:p>
            <a:r>
              <a:rPr lang="en-IN" b="1" dirty="0"/>
              <a:t>Relevant:</a:t>
            </a:r>
            <a:r>
              <a:rPr lang="en-IN" dirty="0"/>
              <a:t> Addresses real industry need for database accessibility</a:t>
            </a:r>
          </a:p>
          <a:p>
            <a:r>
              <a:rPr lang="en-IN" b="1" dirty="0"/>
              <a:t>Time-bound:</a:t>
            </a:r>
            <a:r>
              <a:rPr lang="en-IN" dirty="0"/>
              <a:t> 15-week development and evaluation timeline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3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A" dirty="0"/>
              <a:t>Methodology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520001" cy="5829879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IN" sz="2800" b="1" dirty="0"/>
              <a:t>Approach:</a:t>
            </a:r>
            <a:r>
              <a:rPr lang="en-IN" sz="2800" dirty="0"/>
              <a:t> Agile development with 5 sprint structure</a:t>
            </a:r>
          </a:p>
          <a:p>
            <a:r>
              <a:rPr lang="en-IN" sz="2800" b="1" dirty="0"/>
              <a:t>Technology Stack:</a:t>
            </a:r>
            <a:r>
              <a:rPr lang="en-IN" sz="2800" dirty="0"/>
              <a:t> Python Flask + Google Gemini 2.0 + </a:t>
            </a:r>
            <a:r>
              <a:rPr lang="en-IN" sz="2800" dirty="0" err="1"/>
              <a:t>LangChain</a:t>
            </a:r>
            <a:endParaRPr lang="en-IN" sz="2800" dirty="0"/>
          </a:p>
          <a:p>
            <a:r>
              <a:rPr lang="en-IN" sz="2800" b="1" dirty="0"/>
              <a:t>Agent Pattern:</a:t>
            </a:r>
            <a:r>
              <a:rPr lang="en-IN" sz="2800" dirty="0"/>
              <a:t> </a:t>
            </a:r>
            <a:r>
              <a:rPr lang="en-IN" sz="2800" dirty="0" err="1"/>
              <a:t>ReAct</a:t>
            </a:r>
            <a:r>
              <a:rPr lang="en-IN" sz="2800" dirty="0"/>
              <a:t> (Reasoning and Acting) for improved accuracy</a:t>
            </a:r>
          </a:p>
          <a:p>
            <a:r>
              <a:rPr lang="en-IN" sz="2800" b="1" dirty="0"/>
              <a:t>Database:</a:t>
            </a:r>
            <a:r>
              <a:rPr lang="en-IN" sz="2800" dirty="0"/>
              <a:t> SQLite with project management schema</a:t>
            </a:r>
          </a:p>
          <a:p>
            <a:r>
              <a:rPr lang="en-IN" sz="2800" b="1" dirty="0"/>
              <a:t>Evaluation:</a:t>
            </a:r>
            <a:r>
              <a:rPr lang="en-IN" sz="2800" dirty="0"/>
              <a:t> Technical metrics + user experience testing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Why These Choices?</a:t>
            </a:r>
            <a:r>
              <a:rPr lang="en-IN" sz="2800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Google Gemini:</a:t>
            </a:r>
            <a:r>
              <a:rPr lang="en-IN" sz="2800" dirty="0"/>
              <a:t> State-of-the-art language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 err="1"/>
              <a:t>LangChain</a:t>
            </a:r>
            <a:r>
              <a:rPr lang="en-IN" sz="2800" b="1" dirty="0"/>
              <a:t>:</a:t>
            </a:r>
            <a:r>
              <a:rPr lang="en-IN" sz="2800" dirty="0"/>
              <a:t> Robust framework for SQL agent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Flask:</a:t>
            </a:r>
            <a:r>
              <a:rPr lang="en-IN" sz="2800" dirty="0"/>
              <a:t> Lightweight, suitable for prototype and production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1493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System Architecture</a:t>
            </a:r>
            <a:endParaRPr lang="en-M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1" y="767566"/>
            <a:ext cx="11664000" cy="5820047"/>
          </a:xfrm>
        </p:spPr>
        <p:txBody>
          <a:bodyPr vert="horz" lIns="91440" tIns="0" rIns="91440" bIns="0" rtlCol="0" anchor="t">
            <a:normAutofit fontScale="77500" lnSpcReduction="20000"/>
          </a:bodyPr>
          <a:lstStyle/>
          <a:p>
            <a:r>
              <a:rPr lang="en-IN" b="1" dirty="0"/>
              <a:t>System Architecture</a:t>
            </a:r>
            <a:endParaRPr lang="en-IN" dirty="0"/>
          </a:p>
          <a:p>
            <a:r>
              <a:rPr lang="en-IN" b="1" dirty="0"/>
              <a:t>Presentation Layer</a:t>
            </a:r>
            <a:r>
              <a:rPr lang="en-IN" dirty="0"/>
              <a:t> Web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HTML/CSS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Responsive Design</a:t>
            </a:r>
          </a:p>
          <a:p>
            <a:r>
              <a:rPr lang="en-IN" b="1" dirty="0"/>
              <a:t>Application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Flask Web Server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RESTful API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Session Management</a:t>
            </a:r>
          </a:p>
          <a:p>
            <a:r>
              <a:rPr lang="en-IN" b="1" dirty="0"/>
              <a:t>Processing Layer</a:t>
            </a:r>
            <a:r>
              <a:rPr lang="en-IN" dirty="0"/>
              <a:t> Google Gemini 2.0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LangChain</a:t>
            </a:r>
            <a:r>
              <a:rPr lang="en-IN" dirty="0"/>
              <a:t> Framework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ReAct</a:t>
            </a:r>
            <a:r>
              <a:rPr lang="en-IN" dirty="0"/>
              <a:t> Agent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Domain Knowledge</a:t>
            </a:r>
          </a:p>
          <a:p>
            <a:r>
              <a:rPr lang="en-IN" b="1" dirty="0"/>
              <a:t>Data Layer</a:t>
            </a:r>
            <a:r>
              <a:rPr lang="en-IN" dirty="0"/>
              <a:t> SQLite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Project Management Schema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SQLDatabaseToolkit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6B2F4-762A-B6B3-067F-7F46AD325F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289" y="1494505"/>
            <a:ext cx="5731510" cy="3460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812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</a:t>
            </a:r>
            <a:r>
              <a:rPr lang="en-MA" dirty="0"/>
              <a:t>roject </a:t>
            </a:r>
            <a:r>
              <a:rPr lang="en-GB" dirty="0"/>
              <a:t>M</a:t>
            </a:r>
            <a:r>
              <a:rPr lang="en-MA" dirty="0"/>
              <a:t>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82996-02EF-4D75-F91A-122216E10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891" y="3211738"/>
            <a:ext cx="7101325" cy="3504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63093D-9DA4-E57B-AF79-3BD87DF5D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10" y="683245"/>
            <a:ext cx="6625664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5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</a:t>
            </a:r>
            <a:r>
              <a:rPr lang="en-MA" dirty="0"/>
              <a:t>iterature </a:t>
            </a:r>
            <a:r>
              <a:rPr lang="en-GB" dirty="0"/>
              <a:t>R</a:t>
            </a:r>
            <a:r>
              <a:rPr lang="en-MA" dirty="0"/>
              <a:t>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787523" cy="58790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Literature Review Findings:</a:t>
            </a:r>
            <a:endParaRPr lang="en-IN" dirty="0"/>
          </a:p>
          <a:p>
            <a:r>
              <a:rPr lang="en-IN" b="1" dirty="0"/>
              <a:t>Text-to-SQL Evolution:</a:t>
            </a:r>
            <a:r>
              <a:rPr lang="en-IN" dirty="0"/>
              <a:t> Rule-based → Statistical → Transformer-based</a:t>
            </a:r>
          </a:p>
          <a:p>
            <a:r>
              <a:rPr lang="en-IN" b="1" dirty="0"/>
              <a:t>Current SOTA:</a:t>
            </a:r>
            <a:r>
              <a:rPr lang="en-IN" dirty="0"/>
              <a:t> Large Language Models showing superior performance</a:t>
            </a:r>
          </a:p>
          <a:p>
            <a:r>
              <a:rPr lang="en-IN" b="1" dirty="0"/>
              <a:t>Key Benchmarks:</a:t>
            </a:r>
            <a:r>
              <a:rPr lang="en-IN" dirty="0"/>
              <a:t> Spider dataset, Seq2SQL, </a:t>
            </a:r>
            <a:r>
              <a:rPr lang="en-IN" dirty="0" err="1"/>
              <a:t>SQLNet</a:t>
            </a:r>
            <a:r>
              <a:rPr lang="en-IN" dirty="0"/>
              <a:t> achievements</a:t>
            </a:r>
          </a:p>
          <a:p>
            <a:r>
              <a:rPr lang="en-IN" b="1" dirty="0"/>
              <a:t>Research Gap:</a:t>
            </a:r>
            <a:r>
              <a:rPr lang="en-IN" dirty="0"/>
              <a:t> Limited domain-specific solutions for business applications</a:t>
            </a:r>
          </a:p>
          <a:p>
            <a:r>
              <a:rPr lang="en-IN" b="1" dirty="0"/>
              <a:t>Critical Insight:</a:t>
            </a:r>
            <a:r>
              <a:rPr lang="en-IN" dirty="0"/>
              <a:t> While academic systems achieve 87-92% accuracy on general benchmarks, domain-specific optimization for project management terminology remains underexplored, presenting opportunity for specialized solutions.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94422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0DB1-AAC3-CADA-2383-B52B5A25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5C8F-F19D-178F-E3FE-7A693295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Implementation Highlights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7B86A-83DF-444F-E6AA-8070CF9782B4}"/>
              </a:ext>
            </a:extLst>
          </p:cNvPr>
          <p:cNvSpPr txBox="1"/>
          <p:nvPr/>
        </p:nvSpPr>
        <p:spPr>
          <a:xfrm>
            <a:off x="639096" y="864671"/>
            <a:ext cx="97044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System Implementation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NLP Module:</a:t>
            </a:r>
            <a:r>
              <a:rPr lang="en-IN" sz="2400" dirty="0"/>
              <a:t> Domain-specific prompt engineering for project terminology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SQL Generation:</a:t>
            </a:r>
            <a:r>
              <a:rPr lang="en-IN" sz="2400" dirty="0"/>
              <a:t> </a:t>
            </a:r>
            <a:r>
              <a:rPr lang="en-IN" sz="2400" dirty="0" err="1"/>
              <a:t>ReAct</a:t>
            </a:r>
            <a:r>
              <a:rPr lang="en-IN" sz="2400" dirty="0"/>
              <a:t> pattern with schema-aware query construction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Error Handling:</a:t>
            </a:r>
            <a:r>
              <a:rPr lang="en-IN" sz="2400" dirty="0"/>
              <a:t> Graceful failure recovery with user-friendly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Web Interface:</a:t>
            </a:r>
            <a:r>
              <a:rPr lang="en-IN" sz="2400" dirty="0"/>
              <a:t> Intuitive design for non-technical users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Example Query Translation: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FE116A-8AC8-D08C-08DD-3DE9BF1E0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52" y="3692948"/>
            <a:ext cx="8200103" cy="2924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405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4DB8-EA6F-9105-E1BB-0B7775B6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28DF-7812-231B-B552-440A3FD0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4" y="270387"/>
            <a:ext cx="11520000" cy="539672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 &amp; Performance</a:t>
            </a:r>
            <a:br>
              <a:rPr lang="en-IN" dirty="0"/>
            </a:br>
            <a:endParaRPr lang="en-M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A2904-974A-F089-421F-3136001B5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1" y="767566"/>
            <a:ext cx="11664000" cy="5820047"/>
          </a:xfrm>
        </p:spPr>
        <p:txBody>
          <a:bodyPr vert="horz" lIns="91440" tIns="0" rIns="91440" bIns="0" rtlCol="0" anchor="t"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b="1" dirty="0"/>
              <a:t>Results &amp; Performance</a:t>
            </a:r>
            <a:endParaRPr lang="en-IN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42DFBF-F3C0-D0FD-20B0-702C9A1F1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161" y="1424838"/>
            <a:ext cx="7640487" cy="3442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95905-573B-4002-0794-1EA27A1F5891}"/>
              </a:ext>
            </a:extLst>
          </p:cNvPr>
          <p:cNvSpPr txBox="1"/>
          <p:nvPr/>
        </p:nvSpPr>
        <p:spPr>
          <a:xfrm>
            <a:off x="452284" y="5292313"/>
            <a:ext cx="7973961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Achievement: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91% accuracy on project management-specific queries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compared to 65% industry average for general systems - demonstrating clear value of domain specialization.</a:t>
            </a:r>
          </a:p>
        </p:txBody>
      </p:sp>
    </p:spTree>
    <p:extLst>
      <p:ext uri="{BB962C8B-B14F-4D97-AF65-F5344CB8AC3E}">
        <p14:creationId xmlns:p14="http://schemas.microsoft.com/office/powerpoint/2010/main" val="2222165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6A1E-2FE8-BEAE-AB60-9F88073E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4777-35E6-D46F-9DCF-2162B4F6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1" y="198397"/>
            <a:ext cx="11520000" cy="539672"/>
          </a:xfrm>
        </p:spPr>
        <p:txBody>
          <a:bodyPr>
            <a:noAutofit/>
          </a:bodyPr>
          <a:lstStyle/>
          <a:p>
            <a:r>
              <a:rPr lang="en-IN" sz="2800" dirty="0"/>
              <a:t>User Experience Testing</a:t>
            </a:r>
            <a:br>
              <a:rPr lang="en-IN" sz="2800" dirty="0"/>
            </a:br>
            <a:endParaRPr lang="en-M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6BD2-0552-8612-9280-809D2B3E0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1" y="767566"/>
            <a:ext cx="11664000" cy="5820047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b="1" dirty="0"/>
              <a:t>Participants:</a:t>
            </a:r>
            <a:r>
              <a:rPr lang="en-US" dirty="0"/>
              <a:t> 15 project management professionals</a:t>
            </a:r>
          </a:p>
          <a:p>
            <a:r>
              <a:rPr lang="en-US" b="1" dirty="0"/>
              <a:t>Demographics:</a:t>
            </a:r>
            <a:r>
              <a:rPr lang="en-US" dirty="0"/>
              <a:t> 8 PMs, 4 Analysts, 3 Senior Stakeholders</a:t>
            </a:r>
          </a:p>
          <a:p>
            <a:r>
              <a:rPr lang="en-US" b="1" dirty="0"/>
              <a:t>Success Rates:</a:t>
            </a:r>
            <a:r>
              <a:rPr lang="en-US" dirty="0"/>
              <a:t> 93% basic queries, 78% intermediate analysis</a:t>
            </a:r>
          </a:p>
          <a:p>
            <a:r>
              <a:rPr lang="en-US" b="1" dirty="0"/>
              <a:t>Recommendation:</a:t>
            </a:r>
            <a:r>
              <a:rPr lang="en-US" dirty="0"/>
              <a:t> 87% would recommend to colleagues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22585-ADFE-01F6-CA1D-42BF4D37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17" y="3425836"/>
            <a:ext cx="10923639" cy="26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9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7FA4-99C9-2246-AFF3-B6508874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609C-9CCA-71EE-1FBE-345BB23E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Comparison with Related Systems</a:t>
            </a:r>
            <a:endParaRPr lang="en-M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58FD-14AD-2C0E-6E61-E16D3A127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1" y="767566"/>
            <a:ext cx="11664000" cy="5820047"/>
          </a:xfrm>
        </p:spPr>
        <p:txBody>
          <a:bodyPr vert="horz" lIns="91440" tIns="0" rIns="91440" bIns="0" rtlCol="0" anchor="t"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F84D4-5683-A7D6-5DAC-92A2EF22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1" y="767565"/>
            <a:ext cx="10097729" cy="30349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BEB730-518F-6437-D399-2330CDB2D507}"/>
              </a:ext>
            </a:extLst>
          </p:cNvPr>
          <p:cNvSpPr txBox="1"/>
          <p:nvPr/>
        </p:nvSpPr>
        <p:spPr>
          <a:xfrm>
            <a:off x="1268360" y="4343658"/>
            <a:ext cx="6794091" cy="1702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Unique Contributions: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Domain-specific optimization for project management</a:t>
            </a:r>
            <a:endParaRPr lang="en-IN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Comprehensive user experience evaluation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deployment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92807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Future Work &amp; Extensions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27366-398E-5027-B1BB-D4507F33BC13}"/>
              </a:ext>
            </a:extLst>
          </p:cNvPr>
          <p:cNvSpPr txBox="1"/>
          <p:nvPr/>
        </p:nvSpPr>
        <p:spPr>
          <a:xfrm>
            <a:off x="707922" y="1043322"/>
            <a:ext cx="9891252" cy="505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Enhancements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Multi-turn conversation support </a:t>
            </a:r>
            <a:endParaRPr lang="en-IN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 visualization generation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Cross-database compatibility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Experience</a:t>
            </a:r>
            <a:b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application development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Collaborative query sharing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Personalization features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 Expansion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CRM and supply chain domains </a:t>
            </a:r>
            <a:endParaRPr lang="en-IN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Industry-specific adaptations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Platform integrations (Jira, MS Project)</a:t>
            </a:r>
          </a:p>
        </p:txBody>
      </p:sp>
    </p:spTree>
    <p:extLst>
      <p:ext uri="{BB962C8B-B14F-4D97-AF65-F5344CB8AC3E}">
        <p14:creationId xmlns:p14="http://schemas.microsoft.com/office/powerpoint/2010/main" val="1501610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A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1" y="767566"/>
            <a:ext cx="11663999" cy="5938034"/>
          </a:xfrm>
        </p:spPr>
        <p:txBody>
          <a:bodyPr vert="horz" lIns="91440" tIns="0" rIns="91440" bIns="0" rtlCol="0" anchor="t">
            <a:normAutofit fontScale="92500" lnSpcReduction="10000"/>
          </a:bodyPr>
          <a:lstStyle/>
          <a:p>
            <a:r>
              <a:rPr lang="en-IN" b="1" dirty="0"/>
              <a:t>Objective Achievement:</a:t>
            </a:r>
            <a:r>
              <a:rPr lang="en-IN" dirty="0"/>
              <a:t> Exceeded 85% accuracy target (achieved 85.7%)</a:t>
            </a:r>
          </a:p>
          <a:p>
            <a:r>
              <a:rPr lang="en-IN" b="1" dirty="0"/>
              <a:t>Domain Value:</a:t>
            </a:r>
            <a:r>
              <a:rPr lang="en-IN" dirty="0"/>
              <a:t> 91% accuracy on PM-specific queries vs. 65% industry average</a:t>
            </a:r>
          </a:p>
          <a:p>
            <a:r>
              <a:rPr lang="en-IN" b="1" dirty="0"/>
              <a:t>User Validation:</a:t>
            </a:r>
            <a:r>
              <a:rPr lang="en-IN" dirty="0"/>
              <a:t> 87% recommendation rate from 15 professionals</a:t>
            </a:r>
          </a:p>
          <a:p>
            <a:r>
              <a:rPr lang="en-IN" b="1" dirty="0"/>
              <a:t>Timeline Success:</a:t>
            </a:r>
            <a:r>
              <a:rPr lang="en-IN" dirty="0"/>
              <a:t> All milestones delivered on schedule</a:t>
            </a:r>
          </a:p>
          <a:p>
            <a:pPr marL="0" indent="0">
              <a:buNone/>
            </a:pPr>
            <a:r>
              <a:rPr lang="en-IN" b="1" dirty="0"/>
              <a:t>Key Learnings: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Domain-specific optimization significantly improves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experience equally important as technical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Modern LLMs enable practical business AI applications</a:t>
            </a:r>
          </a:p>
          <a:p>
            <a:r>
              <a:rPr lang="en-IN" b="1" dirty="0"/>
              <a:t>Impact:</a:t>
            </a:r>
            <a:r>
              <a:rPr lang="en-IN" dirty="0"/>
              <a:t> </a:t>
            </a:r>
            <a:r>
              <a:rPr lang="en-IN" dirty="0" err="1"/>
              <a:t>NeuroQuery</a:t>
            </a:r>
            <a:r>
              <a:rPr lang="en-IN" dirty="0"/>
              <a:t> demonstrates that advanced AI can be successfully adapted to solve real business problems while empowering non-technical users to access critical data independently.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1958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4443</TotalTime>
  <Words>746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 Narrow</vt:lpstr>
      <vt:lpstr>Arial</vt:lpstr>
      <vt:lpstr>Calibri</vt:lpstr>
      <vt:lpstr>Calibri Light</vt:lpstr>
      <vt:lpstr>Wingdings 3</vt:lpstr>
      <vt:lpstr>Office Theme</vt:lpstr>
      <vt:lpstr>PowerPoint Presentation</vt:lpstr>
      <vt:lpstr>Outline</vt:lpstr>
      <vt:lpstr>Context</vt:lpstr>
      <vt:lpstr>Problem Statement - WHY</vt:lpstr>
      <vt:lpstr>Objective - WHAT</vt:lpstr>
      <vt:lpstr>Methodology - HOW</vt:lpstr>
      <vt:lpstr>System Architecture</vt:lpstr>
      <vt:lpstr>Project Management</vt:lpstr>
      <vt:lpstr>Literature Review</vt:lpstr>
      <vt:lpstr>Implementation Highlights</vt:lpstr>
      <vt:lpstr>Results &amp; Performance </vt:lpstr>
      <vt:lpstr>User Experience Testing </vt:lpstr>
      <vt:lpstr>Comparison with Related Systems</vt:lpstr>
      <vt:lpstr>Future Work &amp; Extensions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karimbouzoubaa@yahoo.com</dc:creator>
  <cp:lastModifiedBy>Md Tanzeem</cp:lastModifiedBy>
  <cp:revision>291</cp:revision>
  <dcterms:created xsi:type="dcterms:W3CDTF">2024-06-20T10:19:17Z</dcterms:created>
  <dcterms:modified xsi:type="dcterms:W3CDTF">2025-09-04T08:16:25Z</dcterms:modified>
</cp:coreProperties>
</file>